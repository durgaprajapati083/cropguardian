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693400" cy="7556500"/>
  <p:notesSz cx="6858000" cy="9144000"/>
  <p:embeddedFontLst>
    <p:embeddedFont>
      <p:font typeface="Open Sans Bold" charset="1" panose="00000000000000000000"/>
      <p:regular r:id="rId7"/>
    </p:embeddedFont>
    <p:embeddedFont>
      <p:font typeface="Open Sans" charset="1" panose="000000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69134" y="677543"/>
            <a:ext cx="3858276" cy="338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2"/>
              </a:lnSpc>
              <a:spcBef>
                <a:spcPct val="0"/>
              </a:spcBef>
            </a:pPr>
            <a:r>
              <a:rPr lang="en-US" b="true" sz="1980">
                <a:solidFill>
                  <a:srgbClr val="84251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 Business Model Canvas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5385930" y="5551999"/>
            <a:ext cx="4734349" cy="1293899"/>
            <a:chOff x="0" y="0"/>
            <a:chExt cx="9918566" cy="27107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918566" cy="2710748"/>
            </a:xfrm>
            <a:custGeom>
              <a:avLst/>
              <a:gdLst/>
              <a:ahLst/>
              <a:cxnLst/>
              <a:rect r="r" b="b" t="t" l="l"/>
              <a:pathLst>
                <a:path h="2710748" w="9918566">
                  <a:moveTo>
                    <a:pt x="8176" y="0"/>
                  </a:moveTo>
                  <a:lnTo>
                    <a:pt x="9910390" y="0"/>
                  </a:lnTo>
                  <a:cubicBezTo>
                    <a:pt x="9914905" y="0"/>
                    <a:pt x="9918566" y="3661"/>
                    <a:pt x="9918566" y="8176"/>
                  </a:cubicBezTo>
                  <a:lnTo>
                    <a:pt x="9918566" y="2702572"/>
                  </a:lnTo>
                  <a:cubicBezTo>
                    <a:pt x="9918566" y="2707087"/>
                    <a:pt x="9914905" y="2710748"/>
                    <a:pt x="9910390" y="2710748"/>
                  </a:cubicBezTo>
                  <a:lnTo>
                    <a:pt x="8176" y="2710748"/>
                  </a:lnTo>
                  <a:cubicBezTo>
                    <a:pt x="3661" y="2710748"/>
                    <a:pt x="0" y="2707087"/>
                    <a:pt x="0" y="2702572"/>
                  </a:cubicBezTo>
                  <a:lnTo>
                    <a:pt x="0" y="8176"/>
                  </a:lnTo>
                  <a:cubicBezTo>
                    <a:pt x="0" y="3661"/>
                    <a:pt x="3661" y="0"/>
                    <a:pt x="8176" y="0"/>
                  </a:cubicBezTo>
                  <a:close/>
                </a:path>
              </a:pathLst>
            </a:custGeom>
            <a:solidFill>
              <a:srgbClr val="FFEECD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9918566" cy="2729798"/>
            </a:xfrm>
            <a:prstGeom prst="rect">
              <a:avLst/>
            </a:prstGeom>
          </p:spPr>
          <p:txBody>
            <a:bodyPr anchor="ctr" rtlCol="false" tIns="10777" lIns="10777" bIns="10777" rIns="10777"/>
            <a:lstStyle/>
            <a:p>
              <a:pPr algn="ctr" marL="0" indent="0" lvl="0">
                <a:lnSpc>
                  <a:spcPts val="13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696271" y="5662341"/>
            <a:ext cx="305875" cy="283629"/>
          </a:xfrm>
          <a:custGeom>
            <a:avLst/>
            <a:gdLst/>
            <a:ahLst/>
            <a:cxnLst/>
            <a:rect r="r" b="b" t="t" l="l"/>
            <a:pathLst>
              <a:path h="283629" w="305875">
                <a:moveTo>
                  <a:pt x="0" y="0"/>
                </a:moveTo>
                <a:lnTo>
                  <a:pt x="305874" y="0"/>
                </a:lnTo>
                <a:lnTo>
                  <a:pt x="305874" y="283630"/>
                </a:lnTo>
                <a:lnTo>
                  <a:pt x="0" y="2836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5429836" y="5652400"/>
            <a:ext cx="1296025" cy="218594"/>
            <a:chOff x="0" y="0"/>
            <a:chExt cx="464466" cy="7833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64466" cy="78339"/>
            </a:xfrm>
            <a:custGeom>
              <a:avLst/>
              <a:gdLst/>
              <a:ahLst/>
              <a:cxnLst/>
              <a:rect r="r" b="b" t="t" l="l"/>
              <a:pathLst>
                <a:path h="78339" w="464466">
                  <a:moveTo>
                    <a:pt x="39170" y="0"/>
                  </a:moveTo>
                  <a:lnTo>
                    <a:pt x="425297" y="0"/>
                  </a:lnTo>
                  <a:cubicBezTo>
                    <a:pt x="446929" y="0"/>
                    <a:pt x="464466" y="17537"/>
                    <a:pt x="464466" y="39170"/>
                  </a:cubicBezTo>
                  <a:lnTo>
                    <a:pt x="464466" y="39170"/>
                  </a:lnTo>
                  <a:cubicBezTo>
                    <a:pt x="464466" y="60802"/>
                    <a:pt x="446929" y="78339"/>
                    <a:pt x="425297" y="78339"/>
                  </a:cubicBezTo>
                  <a:lnTo>
                    <a:pt x="39170" y="78339"/>
                  </a:lnTo>
                  <a:cubicBezTo>
                    <a:pt x="17537" y="78339"/>
                    <a:pt x="0" y="60802"/>
                    <a:pt x="0" y="39170"/>
                  </a:cubicBezTo>
                  <a:lnTo>
                    <a:pt x="0" y="39170"/>
                  </a:lnTo>
                  <a:cubicBezTo>
                    <a:pt x="0" y="17537"/>
                    <a:pt x="17537" y="0"/>
                    <a:pt x="39170" y="0"/>
                  </a:cubicBezTo>
                  <a:close/>
                </a:path>
              </a:pathLst>
            </a:custGeom>
            <a:solidFill>
              <a:srgbClr val="D9A94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464466" cy="97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5570830" y="5683126"/>
            <a:ext cx="1155031" cy="165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  <a:spcBef>
                <a:spcPct val="0"/>
              </a:spcBef>
            </a:pPr>
            <a:r>
              <a:rPr lang="en-US" b="true" sz="9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Revenue Streams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71721" y="1426677"/>
            <a:ext cx="1832100" cy="4014834"/>
            <a:chOff x="0" y="0"/>
            <a:chExt cx="3838289" cy="841116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38289" cy="8411166"/>
            </a:xfrm>
            <a:custGeom>
              <a:avLst/>
              <a:gdLst/>
              <a:ahLst/>
              <a:cxnLst/>
              <a:rect r="r" b="b" t="t" l="l"/>
              <a:pathLst>
                <a:path h="8411166" w="3838289">
                  <a:moveTo>
                    <a:pt x="21129" y="0"/>
                  </a:moveTo>
                  <a:lnTo>
                    <a:pt x="3817160" y="0"/>
                  </a:lnTo>
                  <a:cubicBezTo>
                    <a:pt x="3822764" y="0"/>
                    <a:pt x="3828138" y="2226"/>
                    <a:pt x="3832101" y="6188"/>
                  </a:cubicBezTo>
                  <a:cubicBezTo>
                    <a:pt x="3836063" y="10151"/>
                    <a:pt x="3838289" y="15525"/>
                    <a:pt x="3838289" y="21129"/>
                  </a:cubicBezTo>
                  <a:lnTo>
                    <a:pt x="3838289" y="8390037"/>
                  </a:lnTo>
                  <a:cubicBezTo>
                    <a:pt x="3838289" y="8401706"/>
                    <a:pt x="3828829" y="8411166"/>
                    <a:pt x="3817160" y="8411166"/>
                  </a:cubicBezTo>
                  <a:lnTo>
                    <a:pt x="21129" y="8411166"/>
                  </a:lnTo>
                  <a:cubicBezTo>
                    <a:pt x="9460" y="8411166"/>
                    <a:pt x="0" y="8401706"/>
                    <a:pt x="0" y="8390037"/>
                  </a:cubicBezTo>
                  <a:lnTo>
                    <a:pt x="0" y="21129"/>
                  </a:lnTo>
                  <a:cubicBezTo>
                    <a:pt x="0" y="9460"/>
                    <a:pt x="9460" y="0"/>
                    <a:pt x="21129" y="0"/>
                  </a:cubicBezTo>
                  <a:close/>
                </a:path>
              </a:pathLst>
            </a:custGeom>
            <a:solidFill>
              <a:srgbClr val="FFEECD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3838289" cy="8430216"/>
            </a:xfrm>
            <a:prstGeom prst="rect">
              <a:avLst/>
            </a:prstGeom>
          </p:spPr>
          <p:txBody>
            <a:bodyPr anchor="ctr" rtlCol="false" tIns="10777" lIns="10777" bIns="10777" rIns="10777"/>
            <a:lstStyle/>
            <a:p>
              <a:pPr algn="l">
                <a:lnSpc>
                  <a:spcPts val="1399"/>
                </a:lnSpc>
              </a:pPr>
            </a:p>
            <a:p>
              <a:pPr algn="l">
                <a:lnSpc>
                  <a:spcPts val="1399"/>
                </a:lnSpc>
              </a:pPr>
            </a:p>
            <a:p>
              <a:pPr algn="l">
                <a:lnSpc>
                  <a:spcPts val="1399"/>
                </a:lnSpc>
              </a:pPr>
              <a:r>
                <a:rPr lang="en-US" sz="999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:-Government agriculture departments</a:t>
              </a:r>
            </a:p>
            <a:p>
              <a:pPr algn="l">
                <a:lnSpc>
                  <a:spcPts val="1399"/>
                </a:lnSpc>
              </a:pPr>
            </a:p>
            <a:p>
              <a:pPr algn="l">
                <a:lnSpc>
                  <a:spcPts val="1399"/>
                </a:lnSpc>
              </a:pPr>
              <a:r>
                <a:rPr lang="en-US" sz="999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:-</a:t>
              </a:r>
              <a:r>
                <a:rPr lang="en-US" sz="999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Agricultural universities and research institutes</a:t>
              </a:r>
            </a:p>
            <a:p>
              <a:pPr algn="l">
                <a:lnSpc>
                  <a:spcPts val="1399"/>
                </a:lnSpc>
              </a:pPr>
            </a:p>
            <a:p>
              <a:pPr algn="l">
                <a:lnSpc>
                  <a:spcPts val="1399"/>
                </a:lnSpc>
              </a:pPr>
              <a:r>
                <a:rPr lang="en-US" sz="999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:-</a:t>
              </a:r>
              <a:r>
                <a:rPr lang="en-US" sz="999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NGOs and Farmer Producer Organizations (FPOs)</a:t>
              </a:r>
            </a:p>
            <a:p>
              <a:pPr algn="l">
                <a:lnSpc>
                  <a:spcPts val="1399"/>
                </a:lnSpc>
              </a:pPr>
            </a:p>
            <a:p>
              <a:pPr algn="l">
                <a:lnSpc>
                  <a:spcPts val="1399"/>
                </a:lnSpc>
              </a:pPr>
              <a:r>
                <a:rPr lang="en-US" sz="999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:-</a:t>
              </a:r>
              <a:r>
                <a:rPr lang="en-US" sz="999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Agri-input companies (fertilizer, pesticide, seed companies)</a:t>
              </a:r>
            </a:p>
            <a:p>
              <a:pPr algn="l">
                <a:lnSpc>
                  <a:spcPts val="1399"/>
                </a:lnSpc>
              </a:pPr>
            </a:p>
            <a:p>
              <a:pPr algn="l">
                <a:lnSpc>
                  <a:spcPts val="1399"/>
                </a:lnSpc>
              </a:pPr>
              <a:r>
                <a:rPr lang="en-US" sz="999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:-</a:t>
              </a:r>
              <a:r>
                <a:rPr lang="en-US" sz="999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Market price data providers</a:t>
              </a:r>
            </a:p>
            <a:p>
              <a:pPr algn="l">
                <a:lnSpc>
                  <a:spcPts val="1399"/>
                </a:lnSpc>
              </a:pPr>
              <a:r>
                <a:rPr lang="en-US" sz="999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Cloud service providers (AWS, Firebase, etc.)</a:t>
              </a:r>
            </a:p>
            <a:p>
              <a:pPr algn="l">
                <a:lnSpc>
                  <a:spcPts val="1399"/>
                </a:lnSpc>
              </a:pPr>
            </a:p>
            <a:p>
              <a:pPr algn="l" marL="0" indent="0" lvl="0">
                <a:lnSpc>
                  <a:spcPts val="1399"/>
                </a:lnSpc>
                <a:spcBef>
                  <a:spcPct val="0"/>
                </a:spcBef>
              </a:pPr>
              <a:r>
                <a:rPr lang="en-US" b="true" sz="9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:-</a:t>
              </a:r>
              <a:r>
                <a:rPr lang="en-US" b="true" sz="9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Language translation providers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988985" y="1538773"/>
            <a:ext cx="292971" cy="259945"/>
          </a:xfrm>
          <a:custGeom>
            <a:avLst/>
            <a:gdLst/>
            <a:ahLst/>
            <a:cxnLst/>
            <a:rect r="r" b="b" t="t" l="l"/>
            <a:pathLst>
              <a:path h="259945" w="292971">
                <a:moveTo>
                  <a:pt x="0" y="0"/>
                </a:moveTo>
                <a:lnTo>
                  <a:pt x="292970" y="0"/>
                </a:lnTo>
                <a:lnTo>
                  <a:pt x="292970" y="259945"/>
                </a:lnTo>
                <a:lnTo>
                  <a:pt x="0" y="259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569134" y="1512000"/>
            <a:ext cx="1296025" cy="392847"/>
            <a:chOff x="0" y="0"/>
            <a:chExt cx="464466" cy="14078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64466" cy="140788"/>
            </a:xfrm>
            <a:custGeom>
              <a:avLst/>
              <a:gdLst/>
              <a:ahLst/>
              <a:cxnLst/>
              <a:rect r="r" b="b" t="t" l="l"/>
              <a:pathLst>
                <a:path h="140788" w="464466">
                  <a:moveTo>
                    <a:pt x="70394" y="0"/>
                  </a:moveTo>
                  <a:lnTo>
                    <a:pt x="394072" y="0"/>
                  </a:lnTo>
                  <a:cubicBezTo>
                    <a:pt x="432950" y="0"/>
                    <a:pt x="464466" y="31516"/>
                    <a:pt x="464466" y="70394"/>
                  </a:cubicBezTo>
                  <a:lnTo>
                    <a:pt x="464466" y="70394"/>
                  </a:lnTo>
                  <a:cubicBezTo>
                    <a:pt x="464466" y="89063"/>
                    <a:pt x="457050" y="106968"/>
                    <a:pt x="443848" y="120170"/>
                  </a:cubicBezTo>
                  <a:cubicBezTo>
                    <a:pt x="430647" y="133371"/>
                    <a:pt x="412742" y="140788"/>
                    <a:pt x="394072" y="140788"/>
                  </a:cubicBezTo>
                  <a:lnTo>
                    <a:pt x="70394" y="140788"/>
                  </a:lnTo>
                  <a:cubicBezTo>
                    <a:pt x="51724" y="140788"/>
                    <a:pt x="33819" y="133371"/>
                    <a:pt x="20618" y="120170"/>
                  </a:cubicBezTo>
                  <a:cubicBezTo>
                    <a:pt x="7416" y="106968"/>
                    <a:pt x="0" y="89063"/>
                    <a:pt x="0" y="70394"/>
                  </a:cubicBezTo>
                  <a:lnTo>
                    <a:pt x="0" y="70394"/>
                  </a:lnTo>
                  <a:cubicBezTo>
                    <a:pt x="0" y="51724"/>
                    <a:pt x="7416" y="33819"/>
                    <a:pt x="20618" y="20618"/>
                  </a:cubicBezTo>
                  <a:cubicBezTo>
                    <a:pt x="33819" y="7416"/>
                    <a:pt x="51724" y="0"/>
                    <a:pt x="70394" y="0"/>
                  </a:cubicBezTo>
                  <a:close/>
                </a:path>
              </a:pathLst>
            </a:custGeom>
            <a:solidFill>
              <a:srgbClr val="D9A94B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464466" cy="1598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727614" y="1568334"/>
            <a:ext cx="822323" cy="33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  <a:spcBef>
                <a:spcPct val="0"/>
              </a:spcBef>
            </a:pPr>
            <a:r>
              <a:rPr lang="en-US" b="true" sz="9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Key Partnerships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2498272" y="1426677"/>
            <a:ext cx="1677552" cy="4014834"/>
            <a:chOff x="0" y="0"/>
            <a:chExt cx="3514509" cy="841116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514509" cy="8411166"/>
            </a:xfrm>
            <a:custGeom>
              <a:avLst/>
              <a:gdLst/>
              <a:ahLst/>
              <a:cxnLst/>
              <a:rect r="r" b="b" t="t" l="l"/>
              <a:pathLst>
                <a:path h="8411166" w="3514509">
                  <a:moveTo>
                    <a:pt x="23075" y="0"/>
                  </a:moveTo>
                  <a:lnTo>
                    <a:pt x="3491434" y="0"/>
                  </a:lnTo>
                  <a:cubicBezTo>
                    <a:pt x="3497554" y="0"/>
                    <a:pt x="3503423" y="2431"/>
                    <a:pt x="3507750" y="6759"/>
                  </a:cubicBezTo>
                  <a:cubicBezTo>
                    <a:pt x="3512077" y="11086"/>
                    <a:pt x="3514509" y="16955"/>
                    <a:pt x="3514509" y="23075"/>
                  </a:cubicBezTo>
                  <a:lnTo>
                    <a:pt x="3514509" y="8388090"/>
                  </a:lnTo>
                  <a:cubicBezTo>
                    <a:pt x="3514509" y="8394211"/>
                    <a:pt x="3512077" y="8400080"/>
                    <a:pt x="3507750" y="8404407"/>
                  </a:cubicBezTo>
                  <a:cubicBezTo>
                    <a:pt x="3503423" y="8408735"/>
                    <a:pt x="3497554" y="8411166"/>
                    <a:pt x="3491434" y="8411166"/>
                  </a:cubicBezTo>
                  <a:lnTo>
                    <a:pt x="23075" y="8411166"/>
                  </a:lnTo>
                  <a:cubicBezTo>
                    <a:pt x="16955" y="8411166"/>
                    <a:pt x="11086" y="8408735"/>
                    <a:pt x="6759" y="8404407"/>
                  </a:cubicBezTo>
                  <a:cubicBezTo>
                    <a:pt x="2431" y="8400080"/>
                    <a:pt x="0" y="8394211"/>
                    <a:pt x="0" y="8388090"/>
                  </a:cubicBezTo>
                  <a:lnTo>
                    <a:pt x="0" y="23075"/>
                  </a:lnTo>
                  <a:cubicBezTo>
                    <a:pt x="0" y="16955"/>
                    <a:pt x="2431" y="11086"/>
                    <a:pt x="6759" y="6759"/>
                  </a:cubicBezTo>
                  <a:cubicBezTo>
                    <a:pt x="11086" y="2431"/>
                    <a:pt x="16955" y="0"/>
                    <a:pt x="23075" y="0"/>
                  </a:cubicBezTo>
                  <a:close/>
                </a:path>
              </a:pathLst>
            </a:custGeom>
            <a:solidFill>
              <a:srgbClr val="FFEECD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3514509" cy="8430216"/>
            </a:xfrm>
            <a:prstGeom prst="rect">
              <a:avLst/>
            </a:prstGeom>
          </p:spPr>
          <p:txBody>
            <a:bodyPr anchor="ctr" rtlCol="false" tIns="10777" lIns="10777" bIns="10777" rIns="10777"/>
            <a:lstStyle/>
            <a:p>
              <a:pPr algn="l">
                <a:lnSpc>
                  <a:spcPts val="1399"/>
                </a:lnSpc>
              </a:pPr>
            </a:p>
            <a:p>
              <a:pPr algn="l">
                <a:lnSpc>
                  <a:spcPts val="1399"/>
                </a:lnSpc>
              </a:pPr>
            </a:p>
            <a:p>
              <a:pPr algn="l" marL="215899" indent="-107950" lvl="1">
                <a:lnSpc>
                  <a:spcPts val="1399"/>
                </a:lnSpc>
                <a:buFont typeface="Arial"/>
                <a:buChar char="•"/>
              </a:pPr>
              <a:r>
                <a:rPr lang="en-US" b="true" sz="9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Developing and maintaining crop disease detection system</a:t>
              </a:r>
            </a:p>
            <a:p>
              <a:pPr algn="l" marL="215899" indent="-107950" lvl="1">
                <a:lnSpc>
                  <a:spcPts val="1399"/>
                </a:lnSpc>
                <a:buFont typeface="Arial"/>
                <a:buChar char="•"/>
              </a:pPr>
              <a:r>
                <a:rPr lang="en-US" b="true" sz="9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Training and improving AI disease recognition model</a:t>
              </a:r>
            </a:p>
            <a:p>
              <a:pPr algn="l" marL="215899" indent="-107950" lvl="1">
                <a:lnSpc>
                  <a:spcPts val="1399"/>
                </a:lnSpc>
                <a:buFont typeface="Arial"/>
                <a:buChar char="•"/>
              </a:pPr>
              <a:r>
                <a:rPr lang="en-US" b="true" sz="9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Managing multilingual support and translation</a:t>
              </a:r>
            </a:p>
            <a:p>
              <a:pPr algn="l" marL="215899" indent="-107950" lvl="1">
                <a:lnSpc>
                  <a:spcPts val="1399"/>
                </a:lnSpc>
                <a:buFont typeface="Arial"/>
                <a:buChar char="•"/>
              </a:pPr>
              <a:r>
                <a:rPr lang="en-US" b="true" sz="9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Updated government schemes and agriculture news</a:t>
              </a:r>
            </a:p>
            <a:p>
              <a:pPr algn="l" marL="215899" indent="-107950" lvl="1">
                <a:lnSpc>
                  <a:spcPts val="1399"/>
                </a:lnSpc>
                <a:buFont typeface="Arial"/>
                <a:buChar char="•"/>
              </a:pPr>
              <a:r>
                <a:rPr lang="en-US" b="true" sz="9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Maintaining community platform and moderating content</a:t>
              </a:r>
            </a:p>
            <a:p>
              <a:pPr algn="l" marL="215899" indent="-107950" lvl="1">
                <a:lnSpc>
                  <a:spcPts val="1399"/>
                </a:lnSpc>
                <a:buFont typeface="Arial"/>
                <a:buChar char="•"/>
              </a:pPr>
              <a:r>
                <a:rPr lang="en-US" b="true" sz="9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Marketplace and transaction system development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3484757" y="1501833"/>
            <a:ext cx="259639" cy="296884"/>
          </a:xfrm>
          <a:custGeom>
            <a:avLst/>
            <a:gdLst/>
            <a:ahLst/>
            <a:cxnLst/>
            <a:rect r="r" b="b" t="t" l="l"/>
            <a:pathLst>
              <a:path h="296884" w="259639">
                <a:moveTo>
                  <a:pt x="0" y="0"/>
                </a:moveTo>
                <a:lnTo>
                  <a:pt x="259639" y="0"/>
                </a:lnTo>
                <a:lnTo>
                  <a:pt x="259639" y="296885"/>
                </a:lnTo>
                <a:lnTo>
                  <a:pt x="0" y="2968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3" id="23"/>
          <p:cNvGrpSpPr/>
          <p:nvPr/>
        </p:nvGrpSpPr>
        <p:grpSpPr>
          <a:xfrm rot="0">
            <a:off x="2584524" y="1512037"/>
            <a:ext cx="719258" cy="392847"/>
            <a:chOff x="0" y="0"/>
            <a:chExt cx="257766" cy="14078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57766" cy="140788"/>
            </a:xfrm>
            <a:custGeom>
              <a:avLst/>
              <a:gdLst/>
              <a:ahLst/>
              <a:cxnLst/>
              <a:rect r="r" b="b" t="t" l="l"/>
              <a:pathLst>
                <a:path h="140788" w="257766">
                  <a:moveTo>
                    <a:pt x="70394" y="0"/>
                  </a:moveTo>
                  <a:lnTo>
                    <a:pt x="187372" y="0"/>
                  </a:lnTo>
                  <a:cubicBezTo>
                    <a:pt x="206042" y="0"/>
                    <a:pt x="223947" y="7416"/>
                    <a:pt x="237148" y="20618"/>
                  </a:cubicBezTo>
                  <a:cubicBezTo>
                    <a:pt x="250349" y="33819"/>
                    <a:pt x="257766" y="51724"/>
                    <a:pt x="257766" y="70394"/>
                  </a:cubicBezTo>
                  <a:lnTo>
                    <a:pt x="257766" y="70394"/>
                  </a:lnTo>
                  <a:cubicBezTo>
                    <a:pt x="257766" y="89063"/>
                    <a:pt x="250349" y="106968"/>
                    <a:pt x="237148" y="120170"/>
                  </a:cubicBezTo>
                  <a:cubicBezTo>
                    <a:pt x="223947" y="133371"/>
                    <a:pt x="206042" y="140788"/>
                    <a:pt x="187372" y="140788"/>
                  </a:cubicBezTo>
                  <a:lnTo>
                    <a:pt x="70394" y="140788"/>
                  </a:lnTo>
                  <a:cubicBezTo>
                    <a:pt x="51724" y="140788"/>
                    <a:pt x="33819" y="133371"/>
                    <a:pt x="20618" y="120170"/>
                  </a:cubicBezTo>
                  <a:cubicBezTo>
                    <a:pt x="7416" y="106968"/>
                    <a:pt x="0" y="89063"/>
                    <a:pt x="0" y="70394"/>
                  </a:cubicBezTo>
                  <a:lnTo>
                    <a:pt x="0" y="70394"/>
                  </a:lnTo>
                  <a:cubicBezTo>
                    <a:pt x="0" y="51724"/>
                    <a:pt x="7416" y="33819"/>
                    <a:pt x="20618" y="20618"/>
                  </a:cubicBezTo>
                  <a:cubicBezTo>
                    <a:pt x="33819" y="7416"/>
                    <a:pt x="51724" y="0"/>
                    <a:pt x="70394" y="0"/>
                  </a:cubicBezTo>
                  <a:close/>
                </a:path>
              </a:pathLst>
            </a:custGeom>
            <a:solidFill>
              <a:srgbClr val="D9A94B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257766" cy="1598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2662434" y="1568334"/>
            <a:ext cx="822323" cy="33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  <a:spcBef>
                <a:spcPct val="0"/>
              </a:spcBef>
            </a:pPr>
            <a:r>
              <a:rPr lang="en-US" b="true" sz="9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Key Activities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4223449" y="1426677"/>
            <a:ext cx="2038647" cy="4058647"/>
            <a:chOff x="0" y="0"/>
            <a:chExt cx="4271010" cy="850295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271010" cy="8502955"/>
            </a:xfrm>
            <a:custGeom>
              <a:avLst/>
              <a:gdLst/>
              <a:ahLst/>
              <a:cxnLst/>
              <a:rect r="r" b="b" t="t" l="l"/>
              <a:pathLst>
                <a:path h="8502955" w="4271010">
                  <a:moveTo>
                    <a:pt x="18988" y="0"/>
                  </a:moveTo>
                  <a:lnTo>
                    <a:pt x="4252022" y="0"/>
                  </a:lnTo>
                  <a:cubicBezTo>
                    <a:pt x="4262509" y="0"/>
                    <a:pt x="4271010" y="8501"/>
                    <a:pt x="4271010" y="18988"/>
                  </a:cubicBezTo>
                  <a:lnTo>
                    <a:pt x="4271010" y="8483967"/>
                  </a:lnTo>
                  <a:cubicBezTo>
                    <a:pt x="4271010" y="8494454"/>
                    <a:pt x="4262509" y="8502955"/>
                    <a:pt x="4252022" y="8502955"/>
                  </a:cubicBezTo>
                  <a:lnTo>
                    <a:pt x="18988" y="8502955"/>
                  </a:lnTo>
                  <a:cubicBezTo>
                    <a:pt x="8501" y="8502955"/>
                    <a:pt x="0" y="8494454"/>
                    <a:pt x="0" y="8483967"/>
                  </a:cubicBezTo>
                  <a:lnTo>
                    <a:pt x="0" y="18988"/>
                  </a:lnTo>
                  <a:cubicBezTo>
                    <a:pt x="0" y="8501"/>
                    <a:pt x="8501" y="0"/>
                    <a:pt x="18988" y="0"/>
                  </a:cubicBezTo>
                  <a:close/>
                </a:path>
              </a:pathLst>
            </a:custGeom>
            <a:solidFill>
              <a:srgbClr val="FFEECD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4271010" cy="8522006"/>
            </a:xfrm>
            <a:prstGeom prst="rect">
              <a:avLst/>
            </a:prstGeom>
          </p:spPr>
          <p:txBody>
            <a:bodyPr anchor="ctr" rtlCol="false" tIns="10777" lIns="10777" bIns="10777" rIns="10777"/>
            <a:lstStyle/>
            <a:p>
              <a:pPr algn="l">
                <a:lnSpc>
                  <a:spcPts val="1399"/>
                </a:lnSpc>
              </a:pPr>
            </a:p>
            <a:p>
              <a:pPr algn="l">
                <a:lnSpc>
                  <a:spcPts val="1399"/>
                </a:lnSpc>
              </a:pPr>
            </a:p>
            <a:p>
              <a:pPr algn="l" marL="215899" indent="-107950" lvl="1">
                <a:lnSpc>
                  <a:spcPts val="1399"/>
                </a:lnSpc>
                <a:buFont typeface="Arial"/>
                <a:buChar char="•"/>
              </a:pPr>
              <a:r>
                <a:rPr lang="en-US" b="true" sz="9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Instant crop disease diagnosis using image upload</a:t>
              </a:r>
            </a:p>
            <a:p>
              <a:pPr algn="l" marL="215899" indent="-107950" lvl="1">
                <a:lnSpc>
                  <a:spcPts val="1399"/>
                </a:lnSpc>
                <a:buFont typeface="Arial"/>
                <a:buChar char="•"/>
              </a:pPr>
              <a:r>
                <a:rPr lang="en-US" b="true" sz="9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Multilingual support for farmers in local languages</a:t>
              </a:r>
            </a:p>
            <a:p>
              <a:pPr algn="l" marL="215899" indent="-107950" lvl="1">
                <a:lnSpc>
                  <a:spcPts val="1399"/>
                </a:lnSpc>
                <a:buFont typeface="Arial"/>
                <a:buChar char="•"/>
              </a:pPr>
              <a:r>
                <a:rPr lang="en-US" b="true" sz="9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Early detection to prevent crop loss and increase yield</a:t>
              </a:r>
            </a:p>
            <a:p>
              <a:pPr algn="l" marL="215899" indent="-107950" lvl="1">
                <a:lnSpc>
                  <a:spcPts val="1399"/>
                </a:lnSpc>
                <a:buFont typeface="Arial"/>
                <a:buChar char="•"/>
              </a:pPr>
              <a:r>
                <a:rPr lang="en-US" b="true" sz="9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Community platform for farmers to share knowledge</a:t>
              </a:r>
            </a:p>
            <a:p>
              <a:pPr algn="l" marL="215899" indent="-107950" lvl="1">
                <a:lnSpc>
                  <a:spcPts val="1399"/>
                </a:lnSpc>
                <a:buFont typeface="Arial"/>
                <a:buChar char="•"/>
              </a:pPr>
              <a:r>
                <a:rPr lang="en-US" b="true" sz="9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Latest government schemes and agriculture updates</a:t>
              </a:r>
            </a:p>
            <a:p>
              <a:pPr algn="l" marL="215899" indent="-107950" lvl="1">
                <a:lnSpc>
                  <a:spcPts val="1399"/>
                </a:lnSpc>
                <a:buFont typeface="Arial"/>
                <a:buChar char="•"/>
              </a:pPr>
              <a:r>
                <a:rPr lang="en-US" b="true" sz="9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Local</a:t>
              </a:r>
              <a:r>
                <a:rPr lang="en-US" sz="9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r>
                <a:rPr lang="en-US" b="true" sz="9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price information of fertilizers and crops</a:t>
              </a:r>
            </a:p>
            <a:p>
              <a:pPr algn="l" marL="215899" indent="-107950" lvl="1">
                <a:lnSpc>
                  <a:spcPts val="1399"/>
                </a:lnSpc>
                <a:buFont typeface="Arial"/>
                <a:buChar char="•"/>
              </a:pPr>
              <a:r>
                <a:rPr lang="en-US" b="true" sz="9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One single platform for diagnosis, communication, and information</a:t>
              </a:r>
            </a:p>
            <a:p>
              <a:pPr algn="l" marL="215899" indent="-107950" lvl="1">
                <a:lnSpc>
                  <a:spcPts val="13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9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Secure login and personalized farmer experience</a:t>
              </a: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5842009" y="1498675"/>
            <a:ext cx="335501" cy="306221"/>
          </a:xfrm>
          <a:custGeom>
            <a:avLst/>
            <a:gdLst/>
            <a:ahLst/>
            <a:cxnLst/>
            <a:rect r="r" b="b" t="t" l="l"/>
            <a:pathLst>
              <a:path h="306221" w="335501">
                <a:moveTo>
                  <a:pt x="0" y="0"/>
                </a:moveTo>
                <a:lnTo>
                  <a:pt x="335501" y="0"/>
                </a:lnTo>
                <a:lnTo>
                  <a:pt x="335501" y="306221"/>
                </a:lnTo>
                <a:lnTo>
                  <a:pt x="0" y="3062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1" id="31"/>
          <p:cNvGrpSpPr/>
          <p:nvPr/>
        </p:nvGrpSpPr>
        <p:grpSpPr>
          <a:xfrm rot="0">
            <a:off x="4365009" y="1538773"/>
            <a:ext cx="1296025" cy="392847"/>
            <a:chOff x="0" y="0"/>
            <a:chExt cx="464466" cy="14078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64466" cy="140788"/>
            </a:xfrm>
            <a:custGeom>
              <a:avLst/>
              <a:gdLst/>
              <a:ahLst/>
              <a:cxnLst/>
              <a:rect r="r" b="b" t="t" l="l"/>
              <a:pathLst>
                <a:path h="140788" w="464466">
                  <a:moveTo>
                    <a:pt x="70394" y="0"/>
                  </a:moveTo>
                  <a:lnTo>
                    <a:pt x="394072" y="0"/>
                  </a:lnTo>
                  <a:cubicBezTo>
                    <a:pt x="432950" y="0"/>
                    <a:pt x="464466" y="31516"/>
                    <a:pt x="464466" y="70394"/>
                  </a:cubicBezTo>
                  <a:lnTo>
                    <a:pt x="464466" y="70394"/>
                  </a:lnTo>
                  <a:cubicBezTo>
                    <a:pt x="464466" y="89063"/>
                    <a:pt x="457050" y="106968"/>
                    <a:pt x="443848" y="120170"/>
                  </a:cubicBezTo>
                  <a:cubicBezTo>
                    <a:pt x="430647" y="133371"/>
                    <a:pt x="412742" y="140788"/>
                    <a:pt x="394072" y="140788"/>
                  </a:cubicBezTo>
                  <a:lnTo>
                    <a:pt x="70394" y="140788"/>
                  </a:lnTo>
                  <a:cubicBezTo>
                    <a:pt x="51724" y="140788"/>
                    <a:pt x="33819" y="133371"/>
                    <a:pt x="20618" y="120170"/>
                  </a:cubicBezTo>
                  <a:cubicBezTo>
                    <a:pt x="7416" y="106968"/>
                    <a:pt x="0" y="89063"/>
                    <a:pt x="0" y="70394"/>
                  </a:cubicBezTo>
                  <a:lnTo>
                    <a:pt x="0" y="70394"/>
                  </a:lnTo>
                  <a:cubicBezTo>
                    <a:pt x="0" y="51724"/>
                    <a:pt x="7416" y="33819"/>
                    <a:pt x="20618" y="20618"/>
                  </a:cubicBezTo>
                  <a:cubicBezTo>
                    <a:pt x="33819" y="7416"/>
                    <a:pt x="51724" y="0"/>
                    <a:pt x="70394" y="0"/>
                  </a:cubicBezTo>
                  <a:close/>
                </a:path>
              </a:pathLst>
            </a:custGeom>
            <a:solidFill>
              <a:srgbClr val="D9A94B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464466" cy="1598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4591650" y="1568334"/>
            <a:ext cx="1068782" cy="336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  <a:spcBef>
                <a:spcPct val="0"/>
              </a:spcBef>
            </a:pPr>
            <a:r>
              <a:rPr lang="en-US" b="true" sz="9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Value Propositions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8288180" y="1426677"/>
            <a:ext cx="1832100" cy="4014834"/>
            <a:chOff x="0" y="0"/>
            <a:chExt cx="3838289" cy="841116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838289" cy="8411166"/>
            </a:xfrm>
            <a:custGeom>
              <a:avLst/>
              <a:gdLst/>
              <a:ahLst/>
              <a:cxnLst/>
              <a:rect r="r" b="b" t="t" l="l"/>
              <a:pathLst>
                <a:path h="8411166" w="3838289">
                  <a:moveTo>
                    <a:pt x="21129" y="0"/>
                  </a:moveTo>
                  <a:lnTo>
                    <a:pt x="3817160" y="0"/>
                  </a:lnTo>
                  <a:cubicBezTo>
                    <a:pt x="3822764" y="0"/>
                    <a:pt x="3828138" y="2226"/>
                    <a:pt x="3832101" y="6188"/>
                  </a:cubicBezTo>
                  <a:cubicBezTo>
                    <a:pt x="3836063" y="10151"/>
                    <a:pt x="3838289" y="15525"/>
                    <a:pt x="3838289" y="21129"/>
                  </a:cubicBezTo>
                  <a:lnTo>
                    <a:pt x="3838289" y="8390037"/>
                  </a:lnTo>
                  <a:cubicBezTo>
                    <a:pt x="3838289" y="8401706"/>
                    <a:pt x="3828829" y="8411166"/>
                    <a:pt x="3817160" y="8411166"/>
                  </a:cubicBezTo>
                  <a:lnTo>
                    <a:pt x="21129" y="8411166"/>
                  </a:lnTo>
                  <a:cubicBezTo>
                    <a:pt x="9460" y="8411166"/>
                    <a:pt x="0" y="8401706"/>
                    <a:pt x="0" y="8390037"/>
                  </a:cubicBezTo>
                  <a:lnTo>
                    <a:pt x="0" y="21129"/>
                  </a:lnTo>
                  <a:cubicBezTo>
                    <a:pt x="0" y="9460"/>
                    <a:pt x="9460" y="0"/>
                    <a:pt x="21129" y="0"/>
                  </a:cubicBezTo>
                  <a:close/>
                </a:path>
              </a:pathLst>
            </a:custGeom>
            <a:solidFill>
              <a:srgbClr val="FFEECD"/>
            </a:solidFill>
            <a:ln cap="sq">
              <a:noFill/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3838289" cy="8430216"/>
            </a:xfrm>
            <a:prstGeom prst="rect">
              <a:avLst/>
            </a:prstGeom>
          </p:spPr>
          <p:txBody>
            <a:bodyPr anchor="ctr" rtlCol="false" tIns="10777" lIns="10777" bIns="10777" rIns="10777"/>
            <a:lstStyle/>
            <a:p>
              <a:pPr algn="ctr" marL="0" indent="0" lvl="0">
                <a:lnSpc>
                  <a:spcPts val="13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9701855" y="1498675"/>
            <a:ext cx="323063" cy="282533"/>
          </a:xfrm>
          <a:custGeom>
            <a:avLst/>
            <a:gdLst/>
            <a:ahLst/>
            <a:cxnLst/>
            <a:rect r="r" b="b" t="t" l="l"/>
            <a:pathLst>
              <a:path h="282533" w="323063">
                <a:moveTo>
                  <a:pt x="0" y="0"/>
                </a:moveTo>
                <a:lnTo>
                  <a:pt x="323063" y="0"/>
                </a:lnTo>
                <a:lnTo>
                  <a:pt x="323063" y="282533"/>
                </a:lnTo>
                <a:lnTo>
                  <a:pt x="0" y="28253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9" id="39"/>
          <p:cNvGrpSpPr/>
          <p:nvPr/>
        </p:nvGrpSpPr>
        <p:grpSpPr>
          <a:xfrm rot="0">
            <a:off x="8372163" y="1538773"/>
            <a:ext cx="1296025" cy="392847"/>
            <a:chOff x="0" y="0"/>
            <a:chExt cx="464466" cy="14078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64466" cy="140788"/>
            </a:xfrm>
            <a:custGeom>
              <a:avLst/>
              <a:gdLst/>
              <a:ahLst/>
              <a:cxnLst/>
              <a:rect r="r" b="b" t="t" l="l"/>
              <a:pathLst>
                <a:path h="140788" w="464466">
                  <a:moveTo>
                    <a:pt x="70394" y="0"/>
                  </a:moveTo>
                  <a:lnTo>
                    <a:pt x="394072" y="0"/>
                  </a:lnTo>
                  <a:cubicBezTo>
                    <a:pt x="432950" y="0"/>
                    <a:pt x="464466" y="31516"/>
                    <a:pt x="464466" y="70394"/>
                  </a:cubicBezTo>
                  <a:lnTo>
                    <a:pt x="464466" y="70394"/>
                  </a:lnTo>
                  <a:cubicBezTo>
                    <a:pt x="464466" y="89063"/>
                    <a:pt x="457050" y="106968"/>
                    <a:pt x="443848" y="120170"/>
                  </a:cubicBezTo>
                  <a:cubicBezTo>
                    <a:pt x="430647" y="133371"/>
                    <a:pt x="412742" y="140788"/>
                    <a:pt x="394072" y="140788"/>
                  </a:cubicBezTo>
                  <a:lnTo>
                    <a:pt x="70394" y="140788"/>
                  </a:lnTo>
                  <a:cubicBezTo>
                    <a:pt x="51724" y="140788"/>
                    <a:pt x="33819" y="133371"/>
                    <a:pt x="20618" y="120170"/>
                  </a:cubicBezTo>
                  <a:cubicBezTo>
                    <a:pt x="7416" y="106968"/>
                    <a:pt x="0" y="89063"/>
                    <a:pt x="0" y="70394"/>
                  </a:cubicBezTo>
                  <a:lnTo>
                    <a:pt x="0" y="70394"/>
                  </a:lnTo>
                  <a:cubicBezTo>
                    <a:pt x="0" y="51724"/>
                    <a:pt x="7416" y="33819"/>
                    <a:pt x="20618" y="20618"/>
                  </a:cubicBezTo>
                  <a:cubicBezTo>
                    <a:pt x="33819" y="7416"/>
                    <a:pt x="51724" y="0"/>
                    <a:pt x="70394" y="0"/>
                  </a:cubicBezTo>
                  <a:close/>
                </a:path>
              </a:pathLst>
            </a:custGeom>
            <a:solidFill>
              <a:srgbClr val="D9A94B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464466" cy="1598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8449833" y="1568334"/>
            <a:ext cx="1155031" cy="33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  <a:spcBef>
                <a:spcPct val="0"/>
              </a:spcBef>
            </a:pPr>
            <a:r>
              <a:rPr lang="en-US" b="true" sz="9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Customer Segments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6359088" y="3487471"/>
            <a:ext cx="1832100" cy="1954040"/>
            <a:chOff x="0" y="0"/>
            <a:chExt cx="3838289" cy="4093757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838289" cy="4093757"/>
            </a:xfrm>
            <a:custGeom>
              <a:avLst/>
              <a:gdLst/>
              <a:ahLst/>
              <a:cxnLst/>
              <a:rect r="r" b="b" t="t" l="l"/>
              <a:pathLst>
                <a:path h="4093757" w="3838289">
                  <a:moveTo>
                    <a:pt x="21129" y="0"/>
                  </a:moveTo>
                  <a:lnTo>
                    <a:pt x="3817160" y="0"/>
                  </a:lnTo>
                  <a:cubicBezTo>
                    <a:pt x="3822764" y="0"/>
                    <a:pt x="3828138" y="2226"/>
                    <a:pt x="3832101" y="6188"/>
                  </a:cubicBezTo>
                  <a:cubicBezTo>
                    <a:pt x="3836063" y="10151"/>
                    <a:pt x="3838289" y="15525"/>
                    <a:pt x="3838289" y="21129"/>
                  </a:cubicBezTo>
                  <a:lnTo>
                    <a:pt x="3838289" y="4072629"/>
                  </a:lnTo>
                  <a:cubicBezTo>
                    <a:pt x="3838289" y="4084298"/>
                    <a:pt x="3828829" y="4093757"/>
                    <a:pt x="3817160" y="4093757"/>
                  </a:cubicBezTo>
                  <a:lnTo>
                    <a:pt x="21129" y="4093757"/>
                  </a:lnTo>
                  <a:cubicBezTo>
                    <a:pt x="15525" y="4093757"/>
                    <a:pt x="10151" y="4091531"/>
                    <a:pt x="6188" y="4087569"/>
                  </a:cubicBezTo>
                  <a:cubicBezTo>
                    <a:pt x="2226" y="4083606"/>
                    <a:pt x="0" y="4078232"/>
                    <a:pt x="0" y="4072629"/>
                  </a:cubicBezTo>
                  <a:lnTo>
                    <a:pt x="0" y="21129"/>
                  </a:lnTo>
                  <a:cubicBezTo>
                    <a:pt x="0" y="9460"/>
                    <a:pt x="9460" y="0"/>
                    <a:pt x="21129" y="0"/>
                  </a:cubicBezTo>
                  <a:close/>
                </a:path>
              </a:pathLst>
            </a:custGeom>
            <a:solidFill>
              <a:srgbClr val="FFEECD"/>
            </a:solidFill>
            <a:ln cap="sq">
              <a:noFill/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3838289" cy="4112807"/>
            </a:xfrm>
            <a:prstGeom prst="rect">
              <a:avLst/>
            </a:prstGeom>
          </p:spPr>
          <p:txBody>
            <a:bodyPr anchor="ctr" rtlCol="false" tIns="10777" lIns="10777" bIns="10777" rIns="10777"/>
            <a:lstStyle/>
            <a:p>
              <a:pPr algn="ctr" marL="0" indent="0" lvl="0">
                <a:lnSpc>
                  <a:spcPts val="13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46" id="46"/>
          <p:cNvSpPr/>
          <p:nvPr/>
        </p:nvSpPr>
        <p:spPr>
          <a:xfrm flipH="false" flipV="false" rot="0">
            <a:off x="7720706" y="3616881"/>
            <a:ext cx="385101" cy="245764"/>
          </a:xfrm>
          <a:custGeom>
            <a:avLst/>
            <a:gdLst/>
            <a:ahLst/>
            <a:cxnLst/>
            <a:rect r="r" b="b" t="t" l="l"/>
            <a:pathLst>
              <a:path h="245764" w="385101">
                <a:moveTo>
                  <a:pt x="0" y="0"/>
                </a:moveTo>
                <a:lnTo>
                  <a:pt x="385101" y="0"/>
                </a:lnTo>
                <a:lnTo>
                  <a:pt x="385101" y="245764"/>
                </a:lnTo>
                <a:lnTo>
                  <a:pt x="0" y="24576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7" id="47"/>
          <p:cNvGrpSpPr/>
          <p:nvPr/>
        </p:nvGrpSpPr>
        <p:grpSpPr>
          <a:xfrm rot="0">
            <a:off x="6424681" y="3616881"/>
            <a:ext cx="1296025" cy="198393"/>
            <a:chOff x="0" y="0"/>
            <a:chExt cx="464466" cy="711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64466" cy="71100"/>
            </a:xfrm>
            <a:custGeom>
              <a:avLst/>
              <a:gdLst/>
              <a:ahLst/>
              <a:cxnLst/>
              <a:rect r="r" b="b" t="t" l="l"/>
              <a:pathLst>
                <a:path h="71100" w="464466">
                  <a:moveTo>
                    <a:pt x="35550" y="0"/>
                  </a:moveTo>
                  <a:lnTo>
                    <a:pt x="428916" y="0"/>
                  </a:lnTo>
                  <a:cubicBezTo>
                    <a:pt x="448550" y="0"/>
                    <a:pt x="464466" y="15916"/>
                    <a:pt x="464466" y="35550"/>
                  </a:cubicBezTo>
                  <a:lnTo>
                    <a:pt x="464466" y="35550"/>
                  </a:lnTo>
                  <a:cubicBezTo>
                    <a:pt x="464466" y="44978"/>
                    <a:pt x="460721" y="54020"/>
                    <a:pt x="454054" y="60687"/>
                  </a:cubicBezTo>
                  <a:cubicBezTo>
                    <a:pt x="447387" y="67354"/>
                    <a:pt x="438345" y="71100"/>
                    <a:pt x="428916" y="71100"/>
                  </a:cubicBezTo>
                  <a:lnTo>
                    <a:pt x="35550" y="71100"/>
                  </a:lnTo>
                  <a:cubicBezTo>
                    <a:pt x="26121" y="71100"/>
                    <a:pt x="17079" y="67354"/>
                    <a:pt x="10412" y="60687"/>
                  </a:cubicBezTo>
                  <a:cubicBezTo>
                    <a:pt x="3745" y="54020"/>
                    <a:pt x="0" y="44978"/>
                    <a:pt x="0" y="35550"/>
                  </a:cubicBezTo>
                  <a:lnTo>
                    <a:pt x="0" y="35550"/>
                  </a:lnTo>
                  <a:cubicBezTo>
                    <a:pt x="0" y="26121"/>
                    <a:pt x="3745" y="17079"/>
                    <a:pt x="10412" y="10412"/>
                  </a:cubicBezTo>
                  <a:cubicBezTo>
                    <a:pt x="17079" y="3745"/>
                    <a:pt x="26121" y="0"/>
                    <a:pt x="35550" y="0"/>
                  </a:cubicBezTo>
                  <a:close/>
                </a:path>
              </a:pathLst>
            </a:custGeom>
            <a:solidFill>
              <a:srgbClr val="D9A94B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464466" cy="90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6520741" y="3647634"/>
            <a:ext cx="1155031" cy="165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  <a:spcBef>
                <a:spcPct val="0"/>
              </a:spcBef>
            </a:pPr>
            <a:r>
              <a:rPr lang="en-US" b="true" sz="9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Channels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6359088" y="1426677"/>
            <a:ext cx="1832100" cy="1946494"/>
            <a:chOff x="0" y="0"/>
            <a:chExt cx="3838289" cy="407794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838289" cy="4077948"/>
            </a:xfrm>
            <a:custGeom>
              <a:avLst/>
              <a:gdLst/>
              <a:ahLst/>
              <a:cxnLst/>
              <a:rect r="r" b="b" t="t" l="l"/>
              <a:pathLst>
                <a:path h="4077948" w="3838289">
                  <a:moveTo>
                    <a:pt x="21129" y="0"/>
                  </a:moveTo>
                  <a:lnTo>
                    <a:pt x="3817160" y="0"/>
                  </a:lnTo>
                  <a:cubicBezTo>
                    <a:pt x="3822764" y="0"/>
                    <a:pt x="3828138" y="2226"/>
                    <a:pt x="3832101" y="6188"/>
                  </a:cubicBezTo>
                  <a:cubicBezTo>
                    <a:pt x="3836063" y="10151"/>
                    <a:pt x="3838289" y="15525"/>
                    <a:pt x="3838289" y="21129"/>
                  </a:cubicBezTo>
                  <a:lnTo>
                    <a:pt x="3838289" y="4056819"/>
                  </a:lnTo>
                  <a:cubicBezTo>
                    <a:pt x="3838289" y="4068488"/>
                    <a:pt x="3828829" y="4077948"/>
                    <a:pt x="3817160" y="4077948"/>
                  </a:cubicBezTo>
                  <a:lnTo>
                    <a:pt x="21129" y="4077948"/>
                  </a:lnTo>
                  <a:cubicBezTo>
                    <a:pt x="15525" y="4077948"/>
                    <a:pt x="10151" y="4075721"/>
                    <a:pt x="6188" y="4071759"/>
                  </a:cubicBezTo>
                  <a:cubicBezTo>
                    <a:pt x="2226" y="4067797"/>
                    <a:pt x="0" y="4062423"/>
                    <a:pt x="0" y="4056819"/>
                  </a:cubicBezTo>
                  <a:lnTo>
                    <a:pt x="0" y="21129"/>
                  </a:lnTo>
                  <a:cubicBezTo>
                    <a:pt x="0" y="9460"/>
                    <a:pt x="9460" y="0"/>
                    <a:pt x="21129" y="0"/>
                  </a:cubicBezTo>
                  <a:close/>
                </a:path>
              </a:pathLst>
            </a:custGeom>
            <a:solidFill>
              <a:srgbClr val="FFEECD"/>
            </a:solidFill>
            <a:ln cap="sq">
              <a:noFill/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3838289" cy="4096998"/>
            </a:xfrm>
            <a:prstGeom prst="rect">
              <a:avLst/>
            </a:prstGeom>
          </p:spPr>
          <p:txBody>
            <a:bodyPr anchor="ctr" rtlCol="false" tIns="10777" lIns="10777" bIns="10777" rIns="10777"/>
            <a:lstStyle/>
            <a:p>
              <a:pPr algn="l">
                <a:lnSpc>
                  <a:spcPts val="1399"/>
                </a:lnSpc>
              </a:pPr>
            </a:p>
            <a:p>
              <a:pPr algn="l">
                <a:lnSpc>
                  <a:spcPts val="1399"/>
                </a:lnSpc>
              </a:pPr>
            </a:p>
            <a:p>
              <a:pPr algn="l" marL="215899" indent="-107950" lvl="1">
                <a:lnSpc>
                  <a:spcPts val="1399"/>
                </a:lnSpc>
                <a:buFont typeface="Arial"/>
                <a:buChar char="•"/>
              </a:pPr>
              <a:r>
                <a:rPr lang="en-US" b="true" sz="9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Self-service mobile platform</a:t>
              </a:r>
            </a:p>
            <a:p>
              <a:pPr algn="l" marL="215899" indent="-107950" lvl="1">
                <a:lnSpc>
                  <a:spcPts val="1399"/>
                </a:lnSpc>
                <a:buFont typeface="Arial"/>
                <a:buChar char="•"/>
              </a:pPr>
              <a:r>
                <a:rPr lang="en-US" b="true" sz="9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Farmer community interaction</a:t>
              </a:r>
            </a:p>
            <a:p>
              <a:pPr algn="l" marL="215899" indent="-107950" lvl="1">
                <a:lnSpc>
                  <a:spcPts val="1399"/>
                </a:lnSpc>
                <a:buFont typeface="Arial"/>
                <a:buChar char="•"/>
              </a:pPr>
              <a:r>
                <a:rPr lang="en-US" b="true" sz="9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Automated alerts &amp; in-app support</a:t>
              </a:r>
            </a:p>
          </p:txBody>
        </p:sp>
      </p:grpSp>
      <p:sp>
        <p:nvSpPr>
          <p:cNvPr name="Freeform 54" id="54"/>
          <p:cNvSpPr/>
          <p:nvPr/>
        </p:nvSpPr>
        <p:spPr>
          <a:xfrm flipH="false" flipV="false" rot="0">
            <a:off x="7796451" y="1471853"/>
            <a:ext cx="309355" cy="309355"/>
          </a:xfrm>
          <a:custGeom>
            <a:avLst/>
            <a:gdLst/>
            <a:ahLst/>
            <a:cxnLst/>
            <a:rect r="r" b="b" t="t" l="l"/>
            <a:pathLst>
              <a:path h="309355" w="309355">
                <a:moveTo>
                  <a:pt x="0" y="0"/>
                </a:moveTo>
                <a:lnTo>
                  <a:pt x="309356" y="0"/>
                </a:lnTo>
                <a:lnTo>
                  <a:pt x="309356" y="309355"/>
                </a:lnTo>
                <a:lnTo>
                  <a:pt x="0" y="30935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5" id="55"/>
          <p:cNvGrpSpPr/>
          <p:nvPr/>
        </p:nvGrpSpPr>
        <p:grpSpPr>
          <a:xfrm rot="0">
            <a:off x="571721" y="5551999"/>
            <a:ext cx="4717919" cy="1293899"/>
            <a:chOff x="0" y="0"/>
            <a:chExt cx="9884143" cy="271074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884143" cy="2710748"/>
            </a:xfrm>
            <a:custGeom>
              <a:avLst/>
              <a:gdLst/>
              <a:ahLst/>
              <a:cxnLst/>
              <a:rect r="r" b="b" t="t" l="l"/>
              <a:pathLst>
                <a:path h="2710748" w="9884143">
                  <a:moveTo>
                    <a:pt x="8205" y="0"/>
                  </a:moveTo>
                  <a:lnTo>
                    <a:pt x="9875938" y="0"/>
                  </a:lnTo>
                  <a:cubicBezTo>
                    <a:pt x="9878114" y="0"/>
                    <a:pt x="9880202" y="864"/>
                    <a:pt x="9881740" y="2403"/>
                  </a:cubicBezTo>
                  <a:cubicBezTo>
                    <a:pt x="9883279" y="3942"/>
                    <a:pt x="9884143" y="6029"/>
                    <a:pt x="9884143" y="8205"/>
                  </a:cubicBezTo>
                  <a:lnTo>
                    <a:pt x="9884143" y="2702543"/>
                  </a:lnTo>
                  <a:cubicBezTo>
                    <a:pt x="9884143" y="2704719"/>
                    <a:pt x="9883279" y="2706806"/>
                    <a:pt x="9881740" y="2708345"/>
                  </a:cubicBezTo>
                  <a:cubicBezTo>
                    <a:pt x="9880202" y="2709883"/>
                    <a:pt x="9878114" y="2710748"/>
                    <a:pt x="9875938" y="2710748"/>
                  </a:cubicBezTo>
                  <a:lnTo>
                    <a:pt x="8205" y="2710748"/>
                  </a:lnTo>
                  <a:cubicBezTo>
                    <a:pt x="6029" y="2710748"/>
                    <a:pt x="3942" y="2709883"/>
                    <a:pt x="2403" y="2708345"/>
                  </a:cubicBezTo>
                  <a:cubicBezTo>
                    <a:pt x="864" y="2706806"/>
                    <a:pt x="0" y="2704719"/>
                    <a:pt x="0" y="2702543"/>
                  </a:cubicBezTo>
                  <a:lnTo>
                    <a:pt x="0" y="8205"/>
                  </a:lnTo>
                  <a:cubicBezTo>
                    <a:pt x="0" y="6029"/>
                    <a:pt x="864" y="3942"/>
                    <a:pt x="2403" y="2403"/>
                  </a:cubicBezTo>
                  <a:cubicBezTo>
                    <a:pt x="3942" y="864"/>
                    <a:pt x="6029" y="0"/>
                    <a:pt x="8205" y="0"/>
                  </a:cubicBezTo>
                  <a:close/>
                </a:path>
              </a:pathLst>
            </a:custGeom>
            <a:solidFill>
              <a:srgbClr val="FFEECD"/>
            </a:solidFill>
            <a:ln cap="sq">
              <a:noFill/>
              <a:prstDash val="solid"/>
              <a:miter/>
            </a:ln>
          </p:spPr>
        </p:sp>
        <p:sp>
          <p:nvSpPr>
            <p:cNvPr name="TextBox 57" id="57"/>
            <p:cNvSpPr txBox="true"/>
            <p:nvPr/>
          </p:nvSpPr>
          <p:spPr>
            <a:xfrm>
              <a:off x="0" y="-19050"/>
              <a:ext cx="9884143" cy="2729798"/>
            </a:xfrm>
            <a:prstGeom prst="rect">
              <a:avLst/>
            </a:prstGeom>
          </p:spPr>
          <p:txBody>
            <a:bodyPr anchor="ctr" rtlCol="false" tIns="10777" lIns="10777" bIns="10777" rIns="10777"/>
            <a:lstStyle/>
            <a:p>
              <a:pPr algn="ctr" marL="0" indent="0" lvl="0">
                <a:lnSpc>
                  <a:spcPts val="13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8" id="58"/>
          <p:cNvSpPr/>
          <p:nvPr/>
        </p:nvSpPr>
        <p:spPr>
          <a:xfrm flipH="false" flipV="false" rot="0">
            <a:off x="4885894" y="5652400"/>
            <a:ext cx="303512" cy="303512"/>
          </a:xfrm>
          <a:custGeom>
            <a:avLst/>
            <a:gdLst/>
            <a:ahLst/>
            <a:cxnLst/>
            <a:rect r="r" b="b" t="t" l="l"/>
            <a:pathLst>
              <a:path h="303512" w="303512">
                <a:moveTo>
                  <a:pt x="0" y="0"/>
                </a:moveTo>
                <a:lnTo>
                  <a:pt x="303512" y="0"/>
                </a:lnTo>
                <a:lnTo>
                  <a:pt x="303512" y="303512"/>
                </a:lnTo>
                <a:lnTo>
                  <a:pt x="0" y="30351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9" id="59"/>
          <p:cNvGrpSpPr/>
          <p:nvPr/>
        </p:nvGrpSpPr>
        <p:grpSpPr>
          <a:xfrm rot="0">
            <a:off x="657117" y="5662341"/>
            <a:ext cx="1296025" cy="172017"/>
            <a:chOff x="0" y="0"/>
            <a:chExt cx="464466" cy="61647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64466" cy="61647"/>
            </a:xfrm>
            <a:custGeom>
              <a:avLst/>
              <a:gdLst/>
              <a:ahLst/>
              <a:cxnLst/>
              <a:rect r="r" b="b" t="t" l="l"/>
              <a:pathLst>
                <a:path h="61647" w="464466">
                  <a:moveTo>
                    <a:pt x="30823" y="0"/>
                  </a:moveTo>
                  <a:lnTo>
                    <a:pt x="433643" y="0"/>
                  </a:lnTo>
                  <a:cubicBezTo>
                    <a:pt x="441818" y="0"/>
                    <a:pt x="449658" y="3247"/>
                    <a:pt x="455438" y="9028"/>
                  </a:cubicBezTo>
                  <a:cubicBezTo>
                    <a:pt x="461219" y="14809"/>
                    <a:pt x="464466" y="22649"/>
                    <a:pt x="464466" y="30823"/>
                  </a:cubicBezTo>
                  <a:lnTo>
                    <a:pt x="464466" y="30823"/>
                  </a:lnTo>
                  <a:cubicBezTo>
                    <a:pt x="464466" y="38998"/>
                    <a:pt x="461219" y="46838"/>
                    <a:pt x="455438" y="52619"/>
                  </a:cubicBezTo>
                  <a:cubicBezTo>
                    <a:pt x="449658" y="58399"/>
                    <a:pt x="441818" y="61647"/>
                    <a:pt x="433643" y="61647"/>
                  </a:cubicBezTo>
                  <a:lnTo>
                    <a:pt x="30823" y="61647"/>
                  </a:lnTo>
                  <a:cubicBezTo>
                    <a:pt x="22649" y="61647"/>
                    <a:pt x="14809" y="58399"/>
                    <a:pt x="9028" y="52619"/>
                  </a:cubicBezTo>
                  <a:cubicBezTo>
                    <a:pt x="3247" y="46838"/>
                    <a:pt x="0" y="38998"/>
                    <a:pt x="0" y="30823"/>
                  </a:cubicBezTo>
                  <a:lnTo>
                    <a:pt x="0" y="30823"/>
                  </a:lnTo>
                  <a:cubicBezTo>
                    <a:pt x="0" y="22649"/>
                    <a:pt x="3247" y="14809"/>
                    <a:pt x="9028" y="9028"/>
                  </a:cubicBezTo>
                  <a:cubicBezTo>
                    <a:pt x="14809" y="3247"/>
                    <a:pt x="22649" y="0"/>
                    <a:pt x="30823" y="0"/>
                  </a:cubicBezTo>
                  <a:close/>
                </a:path>
              </a:pathLst>
            </a:custGeom>
            <a:solidFill>
              <a:srgbClr val="D9A94B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464466" cy="806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727614" y="5683126"/>
            <a:ext cx="1155031" cy="165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  <a:spcBef>
                <a:spcPct val="0"/>
              </a:spcBef>
            </a:pPr>
            <a:r>
              <a:rPr lang="en-US" b="true" sz="9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Cost Structure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5660432" y="925451"/>
            <a:ext cx="1891034" cy="262655"/>
            <a:chOff x="0" y="0"/>
            <a:chExt cx="3961759" cy="550267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961759" cy="550267"/>
            </a:xfrm>
            <a:custGeom>
              <a:avLst/>
              <a:gdLst/>
              <a:ahLst/>
              <a:cxnLst/>
              <a:rect r="r" b="b" t="t" l="l"/>
              <a:pathLst>
                <a:path h="550267" w="3961759">
                  <a:moveTo>
                    <a:pt x="20470" y="0"/>
                  </a:moveTo>
                  <a:lnTo>
                    <a:pt x="3941289" y="0"/>
                  </a:lnTo>
                  <a:cubicBezTo>
                    <a:pt x="3946718" y="0"/>
                    <a:pt x="3951925" y="2157"/>
                    <a:pt x="3955764" y="5996"/>
                  </a:cubicBezTo>
                  <a:cubicBezTo>
                    <a:pt x="3959602" y="9834"/>
                    <a:pt x="3961759" y="15041"/>
                    <a:pt x="3961759" y="20470"/>
                  </a:cubicBezTo>
                  <a:lnTo>
                    <a:pt x="3961759" y="529797"/>
                  </a:lnTo>
                  <a:cubicBezTo>
                    <a:pt x="3961759" y="541102"/>
                    <a:pt x="3952594" y="550267"/>
                    <a:pt x="3941289" y="550267"/>
                  </a:cubicBezTo>
                  <a:lnTo>
                    <a:pt x="20470" y="550267"/>
                  </a:lnTo>
                  <a:cubicBezTo>
                    <a:pt x="9165" y="550267"/>
                    <a:pt x="0" y="541102"/>
                    <a:pt x="0" y="529797"/>
                  </a:cubicBezTo>
                  <a:lnTo>
                    <a:pt x="0" y="20470"/>
                  </a:lnTo>
                  <a:cubicBezTo>
                    <a:pt x="0" y="9165"/>
                    <a:pt x="9165" y="0"/>
                    <a:pt x="20470" y="0"/>
                  </a:cubicBezTo>
                  <a:close/>
                </a:path>
              </a:pathLst>
            </a:custGeom>
            <a:solidFill>
              <a:srgbClr val="FFEECD"/>
            </a:solidFill>
            <a:ln cap="sq">
              <a:noFill/>
              <a:prstDash val="solid"/>
              <a:miter/>
            </a:ln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3961759" cy="569317"/>
            </a:xfrm>
            <a:prstGeom prst="rect">
              <a:avLst/>
            </a:prstGeom>
          </p:spPr>
          <p:txBody>
            <a:bodyPr anchor="ctr" rtlCol="false" tIns="10777" lIns="10777" bIns="10777" rIns="10777"/>
            <a:lstStyle/>
            <a:p>
              <a:pPr algn="ctr" marL="0" indent="0" lvl="0">
                <a:lnSpc>
                  <a:spcPts val="1399"/>
                </a:lnSpc>
                <a:spcBef>
                  <a:spcPct val="0"/>
                </a:spcBef>
              </a:pPr>
              <a:r>
                <a:rPr lang="en-US" sz="9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Team Mavericks</a:t>
              </a: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5660432" y="696593"/>
            <a:ext cx="1369921" cy="16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  <a:spcBef>
                <a:spcPct val="0"/>
              </a:spcBef>
            </a:pPr>
            <a:r>
              <a:rPr lang="en-US" sz="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Designed by: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8105807" y="925451"/>
            <a:ext cx="1757580" cy="262655"/>
            <a:chOff x="0" y="0"/>
            <a:chExt cx="3682169" cy="550267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682169" cy="550267"/>
            </a:xfrm>
            <a:custGeom>
              <a:avLst/>
              <a:gdLst/>
              <a:ahLst/>
              <a:cxnLst/>
              <a:rect r="r" b="b" t="t" l="l"/>
              <a:pathLst>
                <a:path h="550267" w="3682169">
                  <a:moveTo>
                    <a:pt x="22024" y="0"/>
                  </a:moveTo>
                  <a:lnTo>
                    <a:pt x="3660145" y="0"/>
                  </a:lnTo>
                  <a:cubicBezTo>
                    <a:pt x="3665986" y="0"/>
                    <a:pt x="3671588" y="2320"/>
                    <a:pt x="3675719" y="6451"/>
                  </a:cubicBezTo>
                  <a:cubicBezTo>
                    <a:pt x="3679849" y="10581"/>
                    <a:pt x="3682169" y="16183"/>
                    <a:pt x="3682169" y="22024"/>
                  </a:cubicBezTo>
                  <a:lnTo>
                    <a:pt x="3682169" y="528243"/>
                  </a:lnTo>
                  <a:cubicBezTo>
                    <a:pt x="3682169" y="540407"/>
                    <a:pt x="3672309" y="550267"/>
                    <a:pt x="3660145" y="550267"/>
                  </a:cubicBezTo>
                  <a:lnTo>
                    <a:pt x="22024" y="550267"/>
                  </a:lnTo>
                  <a:cubicBezTo>
                    <a:pt x="16183" y="550267"/>
                    <a:pt x="10581" y="547947"/>
                    <a:pt x="6451" y="543816"/>
                  </a:cubicBezTo>
                  <a:cubicBezTo>
                    <a:pt x="2320" y="539686"/>
                    <a:pt x="0" y="534084"/>
                    <a:pt x="0" y="528243"/>
                  </a:cubicBezTo>
                  <a:lnTo>
                    <a:pt x="0" y="22024"/>
                  </a:lnTo>
                  <a:cubicBezTo>
                    <a:pt x="0" y="16183"/>
                    <a:pt x="2320" y="10581"/>
                    <a:pt x="6451" y="6451"/>
                  </a:cubicBezTo>
                  <a:cubicBezTo>
                    <a:pt x="10581" y="2320"/>
                    <a:pt x="16183" y="0"/>
                    <a:pt x="22024" y="0"/>
                  </a:cubicBezTo>
                  <a:close/>
                </a:path>
              </a:pathLst>
            </a:custGeom>
            <a:solidFill>
              <a:srgbClr val="FFEECD"/>
            </a:solidFill>
            <a:ln cap="sq">
              <a:noFill/>
              <a:prstDash val="solid"/>
              <a:miter/>
            </a:ln>
          </p:spPr>
        </p:sp>
        <p:sp>
          <p:nvSpPr>
            <p:cNvPr name="TextBox 69" id="69"/>
            <p:cNvSpPr txBox="true"/>
            <p:nvPr/>
          </p:nvSpPr>
          <p:spPr>
            <a:xfrm>
              <a:off x="0" y="-19050"/>
              <a:ext cx="3682169" cy="569317"/>
            </a:xfrm>
            <a:prstGeom prst="rect">
              <a:avLst/>
            </a:prstGeom>
          </p:spPr>
          <p:txBody>
            <a:bodyPr anchor="ctr" rtlCol="false" tIns="10777" lIns="10777" bIns="10777" rIns="10777"/>
            <a:lstStyle/>
            <a:p>
              <a:pPr algn="ctr" marL="0" indent="0" lvl="0">
                <a:lnSpc>
                  <a:spcPts val="1399"/>
                </a:lnSpc>
                <a:spcBef>
                  <a:spcPct val="0"/>
                </a:spcBef>
              </a:pPr>
              <a:r>
                <a:rPr lang="en-US" sz="9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07/02/2026</a:t>
              </a:r>
            </a:p>
          </p:txBody>
        </p:sp>
      </p:grpSp>
      <p:sp>
        <p:nvSpPr>
          <p:cNvPr name="TextBox 70" id="70"/>
          <p:cNvSpPr txBox="true"/>
          <p:nvPr/>
        </p:nvSpPr>
        <p:spPr>
          <a:xfrm rot="0">
            <a:off x="8105807" y="696593"/>
            <a:ext cx="556388" cy="16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  <a:spcBef>
                <a:spcPct val="0"/>
              </a:spcBef>
            </a:pPr>
            <a:r>
              <a:rPr lang="en-US" sz="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Date: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6443071" y="1512037"/>
            <a:ext cx="1296025" cy="392847"/>
            <a:chOff x="0" y="0"/>
            <a:chExt cx="464466" cy="14078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64466" cy="140788"/>
            </a:xfrm>
            <a:custGeom>
              <a:avLst/>
              <a:gdLst/>
              <a:ahLst/>
              <a:cxnLst/>
              <a:rect r="r" b="b" t="t" l="l"/>
              <a:pathLst>
                <a:path h="140788" w="464466">
                  <a:moveTo>
                    <a:pt x="70394" y="0"/>
                  </a:moveTo>
                  <a:lnTo>
                    <a:pt x="394072" y="0"/>
                  </a:lnTo>
                  <a:cubicBezTo>
                    <a:pt x="432950" y="0"/>
                    <a:pt x="464466" y="31516"/>
                    <a:pt x="464466" y="70394"/>
                  </a:cubicBezTo>
                  <a:lnTo>
                    <a:pt x="464466" y="70394"/>
                  </a:lnTo>
                  <a:cubicBezTo>
                    <a:pt x="464466" y="89063"/>
                    <a:pt x="457050" y="106968"/>
                    <a:pt x="443848" y="120170"/>
                  </a:cubicBezTo>
                  <a:cubicBezTo>
                    <a:pt x="430647" y="133371"/>
                    <a:pt x="412742" y="140788"/>
                    <a:pt x="394072" y="140788"/>
                  </a:cubicBezTo>
                  <a:lnTo>
                    <a:pt x="70394" y="140788"/>
                  </a:lnTo>
                  <a:cubicBezTo>
                    <a:pt x="51724" y="140788"/>
                    <a:pt x="33819" y="133371"/>
                    <a:pt x="20618" y="120170"/>
                  </a:cubicBezTo>
                  <a:cubicBezTo>
                    <a:pt x="7416" y="106968"/>
                    <a:pt x="0" y="89063"/>
                    <a:pt x="0" y="70394"/>
                  </a:cubicBezTo>
                  <a:lnTo>
                    <a:pt x="0" y="70394"/>
                  </a:lnTo>
                  <a:cubicBezTo>
                    <a:pt x="0" y="51724"/>
                    <a:pt x="7416" y="33819"/>
                    <a:pt x="20618" y="20618"/>
                  </a:cubicBezTo>
                  <a:cubicBezTo>
                    <a:pt x="33819" y="7416"/>
                    <a:pt x="51724" y="0"/>
                    <a:pt x="70394" y="0"/>
                  </a:cubicBezTo>
                  <a:close/>
                </a:path>
              </a:pathLst>
            </a:custGeom>
            <a:solidFill>
              <a:srgbClr val="D9A94B"/>
            </a:solid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19050"/>
              <a:ext cx="464466" cy="1598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</a:p>
          </p:txBody>
        </p:sp>
      </p:grpSp>
      <p:sp>
        <p:nvSpPr>
          <p:cNvPr name="TextBox 74" id="74"/>
          <p:cNvSpPr txBox="true"/>
          <p:nvPr/>
        </p:nvSpPr>
        <p:spPr>
          <a:xfrm rot="0">
            <a:off x="6520741" y="1568334"/>
            <a:ext cx="1155031" cy="336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  <a:spcBef>
                <a:spcPct val="0"/>
              </a:spcBef>
            </a:pPr>
            <a:r>
              <a:rPr lang="en-US" b="true" sz="9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Customer Relationships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8288180" y="2054193"/>
            <a:ext cx="1832100" cy="257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b="true" sz="1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Small-scale farmers</a:t>
            </a:r>
          </a:p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b="true" sz="1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Medium and large-scale farmers</a:t>
            </a:r>
          </a:p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b="true" sz="1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Farmer Producer Organizations (FPOs)</a:t>
            </a:r>
          </a:p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b="true" sz="1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Agricultural extension workers</a:t>
            </a:r>
          </a:p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b="true" sz="1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Agricultural NGOs</a:t>
            </a:r>
          </a:p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b="true" sz="1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Government agriculture departments</a:t>
            </a:r>
          </a:p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b="true" sz="1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Direct consumers / buyers</a:t>
            </a:r>
          </a:p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b="true" sz="1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Retailers and wholesalers</a:t>
            </a:r>
          </a:p>
          <a:p>
            <a:pPr algn="l">
              <a:lnSpc>
                <a:spcPts val="1400"/>
              </a:lnSpc>
            </a:pPr>
          </a:p>
        </p:txBody>
      </p:sp>
      <p:sp>
        <p:nvSpPr>
          <p:cNvPr name="TextBox 76" id="76"/>
          <p:cNvSpPr txBox="true"/>
          <p:nvPr/>
        </p:nvSpPr>
        <p:spPr>
          <a:xfrm rot="0">
            <a:off x="652903" y="5819633"/>
            <a:ext cx="3729468" cy="1031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b="true" sz="1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App development and maintenance cost</a:t>
            </a:r>
          </a:p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b="true" sz="1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Cloud hosting and server cost</a:t>
            </a:r>
          </a:p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b="true" sz="1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AI model development and training cost</a:t>
            </a:r>
          </a:p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b="true" sz="1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 collection and integration cost</a:t>
            </a:r>
          </a:p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b="true" sz="1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Marketing and farmer awareness programs</a:t>
            </a:r>
          </a:p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b="true" sz="1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Staff and technical team cost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5562817" y="5886308"/>
            <a:ext cx="4225909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b="true" sz="1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Government partnerships and funding</a:t>
            </a:r>
          </a:p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b="true" sz="1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Premium subscription features (advanced insights)</a:t>
            </a:r>
          </a:p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b="true" sz="1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Advertisements from fertilizer and agri companies</a:t>
            </a:r>
          </a:p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b="true" sz="1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Partnerships with agri-input suppliers</a:t>
            </a:r>
          </a:p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b="true" sz="1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 insights for research organizations (anonymous data)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6345392" y="3834324"/>
            <a:ext cx="1845796" cy="137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b="true" sz="1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Mobile application </a:t>
            </a:r>
          </a:p>
          <a:p>
            <a:pPr algn="just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b="true" sz="1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Agricultural workshops and farmer training programs</a:t>
            </a:r>
          </a:p>
          <a:p>
            <a:pPr algn="just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b="true" sz="1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NGOs and FPO networks</a:t>
            </a:r>
          </a:p>
          <a:p>
            <a:pPr algn="just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b="true" sz="1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Social media </a:t>
            </a:r>
          </a:p>
          <a:p>
            <a:pPr algn="just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b="true" sz="1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Play Store and app distribution platforms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DAHAnxS2AAs</dc:identifier>
  <dcterms:modified xsi:type="dcterms:W3CDTF">2011-08-01T06:04:30Z</dcterms:modified>
  <cp:revision>1</cp:revision>
  <dc:title>White and Yellow Simple Business Model Canvas A4</dc:title>
</cp:coreProperties>
</file>